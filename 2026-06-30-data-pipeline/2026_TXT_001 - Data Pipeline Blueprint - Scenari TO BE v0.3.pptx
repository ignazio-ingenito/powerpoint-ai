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0" y="162000"/>
            <a:ext cx="900000" cy="204070"/>
          </a:xfrm>
          <a:prstGeom prst="rect">
            <a:avLst/>
          </a:prstGeom>
        </p:spPr>
      </p:pic>
      <p:sp>
        <p:nvSpPr>
          <p:cNvPr id="3" name="Arc 2"/>
          <p:cNvSpPr/>
          <p:nvPr/>
        </p:nvSpPr>
        <p:spPr>
          <a:xfrm>
            <a:off x="8640000" y="288000"/>
            <a:ext cx="2808000" cy="2088000"/>
          </a:xfrm>
          <a:prstGeom prst="arc">
            <a:avLst/>
          </a:prstGeom>
          <a:ln w="2794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78000" y="1530000"/>
            <a:ext cx="8640000" cy="251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3000" b="1">
                <a:solidFill>
                  <a:srgbClr val="10A4A8"/>
                </a:solidFill>
                <a:latin typeface="Aptos"/>
              </a:rPr>
              <a:t>Data Pipeline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1818000"/>
            <a:ext cx="9000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400" b="0">
                <a:solidFill>
                  <a:srgbClr val="1F415F"/>
                </a:solidFill>
                <a:latin typeface="Aptos"/>
              </a:rPr>
              <a:t>Due scenari TO BE per una blueprint riusabile su Kiron CDG, CDG interno e ING ProSIGNAL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2376000"/>
            <a:ext cx="504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900" b="0">
                <a:solidFill>
                  <a:srgbClr val="677078"/>
                </a:solidFill>
                <a:latin typeface="Aptos"/>
              </a:rPr>
              <a:t>30 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Contesto / Esigenza / Obiettivi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432000"/>
            <a:ext cx="2520000" cy="1998000"/>
          </a:xfrm>
          <a:prstGeom prst="rect">
            <a:avLst/>
          </a:prstGeom>
          <a:solidFill>
            <a:srgbClr val="EEF9FA"/>
          </a:solidFill>
          <a:ln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594000"/>
            <a:ext cx="2196000" cy="162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700" b="1">
                <a:solidFill>
                  <a:srgbClr val="10A4A8"/>
                </a:solidFill>
                <a:latin typeface="Aptos"/>
              </a:rPr>
              <a:t>Blueprint riusabile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882000"/>
            <a:ext cx="2124000" cy="1368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1F415F"/>
                </a:solidFill>
                <a:latin typeface="Aptos"/>
              </a:defRPr>
            </a:pPr>
            <a:r>
              <a:t>Decisione di piattaforma, non di singolo progetto.</a:t>
            </a:r>
          </a:p>
          <a:p>
            <a:pPr>
              <a:spcAft>
                <a:spcPts val="0"/>
              </a:spcAft>
              <a:defRPr sz="950">
                <a:solidFill>
                  <a:srgbClr val="1F415F"/>
                </a:solidFill>
                <a:latin typeface="Aptos"/>
              </a:defRPr>
            </a:pPr>
            <a:r>
              <a:t>Priorita': ProSIGNAL e Kiron.</a:t>
            </a:r>
          </a:p>
          <a:p>
            <a:pPr>
              <a:spcAft>
                <a:spcPts val="0"/>
              </a:spcAft>
              <a:defRPr sz="950">
                <a:solidFill>
                  <a:srgbClr val="1F415F"/>
                </a:solidFill>
                <a:latin typeface="Aptos"/>
              </a:defRPr>
            </a:pPr>
            <a:r>
              <a:t>Confronto neutrale tra due scenari.</a:t>
            </a:r>
          </a:p>
        </p:txBody>
      </p:sp>
      <p:sp>
        <p:nvSpPr>
          <p:cNvPr id="9" name="Oval 8"/>
          <p:cNvSpPr/>
          <p:nvPr/>
        </p:nvSpPr>
        <p:spPr>
          <a:xfrm>
            <a:off x="3276000" y="486000"/>
            <a:ext cx="234000" cy="234000"/>
          </a:xfrm>
          <a:prstGeom prst="ellipse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0000" y="540000"/>
            <a:ext cx="125999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468000"/>
            <a:ext cx="187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1">
                <a:solidFill>
                  <a:srgbClr val="1F415F"/>
                </a:solidFill>
                <a:latin typeface="Aptos"/>
              </a:rPr>
              <a:t>Contesto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630000"/>
            <a:ext cx="7416000" cy="223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00" b="0">
                <a:solidFill>
                  <a:srgbClr val="242A30"/>
                </a:solidFill>
                <a:latin typeface="Aptos"/>
              </a:rPr>
              <a:t>Tre iniziative data-intensive richiedono ingestion, controlli, trasformazioni, mart e dashboard governati.</a:t>
            </a:r>
          </a:p>
        </p:txBody>
      </p:sp>
      <p:sp>
        <p:nvSpPr>
          <p:cNvPr id="13" name="Oval 12"/>
          <p:cNvSpPr/>
          <p:nvPr/>
        </p:nvSpPr>
        <p:spPr>
          <a:xfrm>
            <a:off x="3276000" y="1080000"/>
            <a:ext cx="234000" cy="234000"/>
          </a:xfrm>
          <a:prstGeom prst="ellipse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0000" y="1134000"/>
            <a:ext cx="125999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0" y="1062000"/>
            <a:ext cx="187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1">
                <a:solidFill>
                  <a:srgbClr val="1F415F"/>
                </a:solidFill>
                <a:latin typeface="Aptos"/>
              </a:rPr>
              <a:t>Esigenza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1224000"/>
            <a:ext cx="7416000" cy="223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00" b="0">
                <a:solidFill>
                  <a:srgbClr val="242A30"/>
                </a:solidFill>
                <a:latin typeface="Aptos"/>
              </a:rPr>
              <a:t>Evitare che ogni progetto ricostruisca pipeline, mapping, controlli e output con logiche diverse.</a:t>
            </a:r>
          </a:p>
        </p:txBody>
      </p:sp>
      <p:sp>
        <p:nvSpPr>
          <p:cNvPr id="17" name="Oval 16"/>
          <p:cNvSpPr/>
          <p:nvPr/>
        </p:nvSpPr>
        <p:spPr>
          <a:xfrm>
            <a:off x="3276000" y="1673999"/>
            <a:ext cx="234000" cy="234000"/>
          </a:xfrm>
          <a:prstGeom prst="ellipse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0000" y="1728000"/>
            <a:ext cx="125999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1655999"/>
            <a:ext cx="187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300" b="1">
                <a:solidFill>
                  <a:srgbClr val="1F415F"/>
                </a:solidFill>
                <a:latin typeface="Aptos"/>
              </a:rPr>
              <a:t>Obiettivi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0" y="1818000"/>
            <a:ext cx="7416000" cy="223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00" b="0">
                <a:solidFill>
                  <a:srgbClr val="242A30"/>
                </a:solidFill>
                <a:latin typeface="Aptos"/>
              </a:rPr>
              <a:t>Discutere una blueprint riusabile, confrontando neutralmente Dagster/dbt/Metabase e Talend/Qlik.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TO BE | Architettura logica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Una buona pipeline separa le responsabilita' prima di scegliere i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684000"/>
            <a:ext cx="11016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50" b="0">
                <a:solidFill>
                  <a:srgbClr val="677078"/>
                </a:solidFill>
                <a:latin typeface="Aptos"/>
              </a:rPr>
              <a:t>La blueprint deve rendere espliciti i passaggi comuni: acquisire, verificare, preparare, modellare, controllare, esporre e governare.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999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Sorgenti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999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file, API, 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296000"/>
            <a:ext cx="234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764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8000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8000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landing controllata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44000" y="1296000"/>
            <a:ext cx="234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68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2000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Verifica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2000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data contracts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48000" y="1296000"/>
            <a:ext cx="234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000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Preparazione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000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normalizzazione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52000" y="1296000"/>
            <a:ext cx="233999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76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0000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Mart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0000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output data product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6000" y="1296000"/>
            <a:ext cx="234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0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3999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Controllo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3999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quality gates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60000" y="1296000"/>
            <a:ext cx="234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784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37999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Esposizione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37999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BI, export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64000" y="1296000"/>
            <a:ext cx="233999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88000" y="1080000"/>
            <a:ext cx="1080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2000" y="1144800"/>
            <a:ext cx="9720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Governance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2000" y="1303200"/>
            <a:ext cx="97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0">
                <a:solidFill>
                  <a:srgbClr val="677078"/>
                </a:solidFill>
                <a:latin typeface="Aptos"/>
              </a:rPr>
              <a:t>audit, run, accessi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0000" y="1890000"/>
            <a:ext cx="3491999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0000" y="1890000"/>
            <a:ext cx="3491999" cy="15120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800" y="1918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Principio comune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4800" y="2113200"/>
            <a:ext cx="3366000" cy="12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242A30"/>
                </a:solidFill>
                <a:latin typeface="Aptos"/>
              </a:defRPr>
            </a:pPr>
            <a:r>
              <a:t>raw/source-faithful, trasformazioni tracciabili e controlli dichiarati prima della dashboard.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31999" y="1890000"/>
            <a:ext cx="3491999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31999" y="1890000"/>
            <a:ext cx="3491999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96799" y="1918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Valore per i progetti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96799" y="2113200"/>
            <a:ext cx="3366000" cy="12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242A30"/>
                </a:solidFill>
                <a:latin typeface="Aptos"/>
              </a:defRPr>
            </a:pPr>
            <a:r>
              <a:t>stessa spina dorsale per Kiron, ProSIGNAL e CDG interno, con estensioni specifiche per sorgenti e regole.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03999" y="1890000"/>
            <a:ext cx="3491999" cy="3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03999" y="1890000"/>
            <a:ext cx="3491999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68799" y="1918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Decisione da abilitare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68799" y="2113200"/>
            <a:ext cx="3366000" cy="12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242A30"/>
                </a:solidFill>
                <a:latin typeface="Aptos"/>
              </a:defRPr>
            </a:pPr>
            <a:r>
              <a:t>scegliere il modello operativo piu' adatto: controllo ingegneristico o piattaforma enterprise.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TO BE | Due scenari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Le due opzioni condividono principi, ma cambiano modello operativo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684000"/>
            <a:ext cx="11016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50" b="0">
                <a:solidFill>
                  <a:srgbClr val="677078"/>
                </a:solidFill>
                <a:latin typeface="Aptos"/>
              </a:rPr>
              <a:t>Il confronto non cerca un vincitore teorico: deve chiarire quale blueprint conviene adottare e con quali vincoli.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900000"/>
            <a:ext cx="3131999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900000"/>
            <a:ext cx="3131999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00" y="928800"/>
            <a:ext cx="300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Parti comuni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800" y="1123200"/>
            <a:ext cx="3006000" cy="882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data contracts e mapping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quality gates e scarti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raw/staging/mart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audit, run history e accessi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dashboard, export e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4000" y="900000"/>
            <a:ext cx="3131999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4000" y="900000"/>
            <a:ext cx="3131999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8800" y="928800"/>
            <a:ext cx="300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8800" y="1123200"/>
            <a:ext cx="3006000" cy="882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Dagster per orchestrazione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dbt per modelli e test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Metabase per analytics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AWS ECS/EC2, RDS o DB cliente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alto controllo engineering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28000" y="900000"/>
            <a:ext cx="3131999" cy="115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28000" y="900000"/>
            <a:ext cx="3131999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2800" y="928800"/>
            <a:ext cx="300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2800" y="1123200"/>
            <a:ext cx="3006000" cy="882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Talend/Qlik per integrazione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Qlik Cloud Analytics Premium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data quality product-oriented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- 50 GB come baseline economics</a:t>
            </a:r>
          </a:p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- maggiore dipendenza da entitlement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50000"/>
            <a:ext cx="1008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00" b="1">
                <a:solidFill>
                  <a:srgbClr val="1F415F"/>
                </a:solidFill>
                <a:latin typeface="Aptos"/>
              </a:rPr>
              <a:t>Criteri di confronto: riuso, scalabilita', costi, rapidita', complessita', skill, lock-in, blocker e fit sui tre casi.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Scenario A | Dagster + dbt + Metabase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Lo scenario AWS privilegia controllo, componibilita' e riuso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684000"/>
            <a:ext cx="11016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50" b="0">
                <a:solidFill>
                  <a:srgbClr val="677078"/>
                </a:solidFill>
                <a:latin typeface="Aptos"/>
              </a:rPr>
              <a:t>Ogni componente della pipeline resta esplicita e governabile, con trade-off operativo su setup, run e competenze.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Sorgenti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Jira, Tempo, SAP, Excel, file fixed-column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6000" y="1108800"/>
            <a:ext cx="288000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5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Compute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ECS o EC2; no EKS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56000" y="1108800"/>
            <a:ext cx="287999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1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Orchestrazione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Dagster job, asset, schedule, sensor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6000" y="1108800"/>
            <a:ext cx="287999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7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dbt models, SQL/Python custom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76000" y="1108800"/>
            <a:ext cx="288000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3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Serving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mart, Metabase,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" y="1674000"/>
            <a:ext cx="31680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6000" y="1674000"/>
            <a:ext cx="3168000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00" y="1702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Benefici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00" y="1897200"/>
            <a:ext cx="3042000" cy="25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riuso tramite asset e modelli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controllo su pipeline e deploy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osservabilita' tecnica dei run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0000" y="1674000"/>
            <a:ext cx="31680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80000" y="1674000"/>
            <a:ext cx="3168000" cy="151200"/>
          </a:xfrm>
          <a:prstGeom prst="rect">
            <a:avLst/>
          </a:prstGeom>
          <a:solidFill>
            <a:srgbClr val="D79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4800" y="1702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Limiti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4800" y="1897200"/>
            <a:ext cx="3042000" cy="25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richiede data engineering e AWS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setup e manutenzione runtime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Metabase da validare per governance cliente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63999" y="1674000"/>
            <a:ext cx="31680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63999" y="1674000"/>
            <a:ext cx="3168000" cy="151200"/>
          </a:xfrm>
          <a:prstGeom prst="rect">
            <a:avLst/>
          </a:prstGeom>
          <a:solidFill>
            <a:srgbClr val="B25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8799" y="1702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Blocker da chiudere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8799" y="1897200"/>
            <a:ext cx="3042000" cy="25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RDS o DB cliente per progetto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access control e publishing BI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stima cloud/run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Scenario A | Mapping componenti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Nello scenario AWS ogni componente resta esplicita e governabile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810000"/>
            <a:ext cx="2232000" cy="1980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200" y="856800"/>
            <a:ext cx="21456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0" y="810000"/>
            <a:ext cx="3671999" cy="198000"/>
          </a:xfrm>
          <a:prstGeom prst="rect">
            <a:avLst/>
          </a:prstGeom>
          <a:solidFill>
            <a:srgbClr val="1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3199" y="856800"/>
            <a:ext cx="3585599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0" y="810000"/>
            <a:ext cx="3671999" cy="198000"/>
          </a:xfrm>
          <a:prstGeom prst="rect">
            <a:avLst/>
          </a:prstGeom>
          <a:solidFill>
            <a:srgbClr val="1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3200" y="856800"/>
            <a:ext cx="3585599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0440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00" y="11016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0" y="10440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3199" y="11016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Dagster job / custom connector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0" y="10440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3200" y="11016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 / Qlik data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13248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3200" y="13824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Orchestrazione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0" y="13248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3199" y="13824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Dagster schedule, sensor, asset 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0" y="13248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3200" y="13824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 runtime, task/reload API Qlik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16056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200" y="16632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Trasformazioni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0" y="16056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3199" y="16632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dbt + SQL/Python dove serve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056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3200" y="16632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 transformation o DB/Qlik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18864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00" y="19440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Data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000" y="18864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3199" y="19440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dbt tests, asset checks, controlli custom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18864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3200" y="19440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Talend/Qlik quality capability, da verificare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21672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3200" y="22248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Presentation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0" y="21672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3199" y="22248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Metabase dashboard, query, alert, export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0" y="21672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3200" y="22248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Qlik Cloud Analytics Premium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0" y="2430000"/>
            <a:ext cx="10260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80" b="0">
                <a:solidFill>
                  <a:srgbClr val="677078"/>
                </a:solidFill>
                <a:latin typeface="Aptos"/>
              </a:rPr>
              <a:t>Nota: i dettagli Qlik/Talend su entitlement, capacity e runtime restano da confermare prima di una scelta esecutiva.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Scenario B | Talend + Qlik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Lo scenario Qlik concentra integrazione e analytics in una filiera piu' product-oriented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684000"/>
            <a:ext cx="11016000" cy="19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1050" b="0">
                <a:solidFill>
                  <a:srgbClr val="677078"/>
                </a:solidFill>
                <a:latin typeface="Aptos"/>
              </a:rPr>
              <a:t>Il punto chiave non e' solo il tool: servono entitlement, limiti di capacita' e runtime compatibili con i casi 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Sorgenti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file, API, DB, sistemi cliente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6000" y="1108800"/>
            <a:ext cx="288000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5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Talend / Qlik 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ingestion, parsing, quality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56000" y="1108800"/>
            <a:ext cx="287999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1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Storage / 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DB cliente o warehouse da definire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6000" y="1108800"/>
            <a:ext cx="287999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7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Qlik 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analytics, dashboard, reload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76000" y="1108800"/>
            <a:ext cx="288000" cy="0"/>
          </a:xfrm>
          <a:prstGeom prst="line">
            <a:avLst/>
          </a:prstGeom>
          <a:ln w="15240">
            <a:solidFill>
              <a:srgbClr val="10A4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36000" y="864000"/>
            <a:ext cx="1800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0000" y="928800"/>
            <a:ext cx="169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6000" y="1108800"/>
            <a:ext cx="16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677078"/>
                </a:solidFill>
                <a:latin typeface="Aptos"/>
              </a:rPr>
              <a:t>tenant, accessi, monitoraggio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6000" y="1674000"/>
            <a:ext cx="31680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6000" y="1674000"/>
            <a:ext cx="3168000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00" y="1702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Benefici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00" y="1897200"/>
            <a:ext cx="3042000" cy="25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fit enterprise se Qlik e' disponibile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meno custom se capability coperte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analytics/presentation forte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80000" y="1674000"/>
            <a:ext cx="31680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80000" y="1674000"/>
            <a:ext cx="3168000" cy="151200"/>
          </a:xfrm>
          <a:prstGeom prst="rect">
            <a:avLst/>
          </a:prstGeom>
          <a:solidFill>
            <a:srgbClr val="D79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4800" y="1702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Limiti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4800" y="1897200"/>
            <a:ext cx="3042000" cy="25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entitlement e limiti da confermare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lock-in piu' alto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fit ProSIGNAL da stressare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63999" y="1674000"/>
            <a:ext cx="3168000" cy="52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63999" y="1674000"/>
            <a:ext cx="3168000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8799" y="1702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Baseline economics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8799" y="1897200"/>
            <a:ext cx="3042000" cy="25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piano 50 GB: 30-50k EUR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range utente, non listino</a:t>
            </a:r>
          </a:p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periodo/IVA/bundle da chiarire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Scenario B | Mapping componenti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Nello scenario Qlik/Talend capability e analytics sono piu' concentrate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810000"/>
            <a:ext cx="2232000" cy="1980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200" y="856800"/>
            <a:ext cx="21456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Componente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0" y="810000"/>
            <a:ext cx="3671999" cy="198000"/>
          </a:xfrm>
          <a:prstGeom prst="rect">
            <a:avLst/>
          </a:prstGeom>
          <a:solidFill>
            <a:srgbClr val="1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3199" y="856800"/>
            <a:ext cx="3585599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40000" y="810000"/>
            <a:ext cx="3671999" cy="198000"/>
          </a:xfrm>
          <a:prstGeom prst="rect">
            <a:avLst/>
          </a:prstGeom>
          <a:solidFill>
            <a:srgbClr val="1F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3200" y="856800"/>
            <a:ext cx="3585599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10440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00" y="11016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Ingestion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000" y="10440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3199" y="11016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Dagster job / custom connector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0000" y="10440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3200" y="11016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 / Qlik data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13248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3200" y="13824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Orchestrazione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000" y="13248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3199" y="13824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Dagster schedule, sensor, asset graph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40000" y="13248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3200" y="13824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 runtime, task/reload API Qlik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16056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200" y="16632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Trasformazioni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000" y="16056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3199" y="16632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dbt + SQL/Python dove serve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056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3200" y="16632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 transformation o DB/Qlik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18864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00" y="19440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Data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000" y="18864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3199" y="19440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dbt tests, asset checks, controlli custom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18864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3200" y="19440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Talend/Qlik quality capability, da verificare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2167200"/>
            <a:ext cx="2232000" cy="259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3200" y="2224800"/>
            <a:ext cx="2145600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1">
                <a:solidFill>
                  <a:srgbClr val="1F415F"/>
                </a:solidFill>
                <a:latin typeface="Aptos"/>
              </a:rPr>
              <a:t>Presentation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0" y="21672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3199" y="22248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Metabase dashboard, query, alert, export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0" y="2167200"/>
            <a:ext cx="3671999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3200" y="2224800"/>
            <a:ext cx="3585599" cy="1008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40" b="0">
                <a:solidFill>
                  <a:srgbClr val="242A30"/>
                </a:solidFill>
                <a:latin typeface="Aptos"/>
              </a:rPr>
              <a:t>Qlik Cloud Analytics Premium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0" y="2430000"/>
            <a:ext cx="10260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80" b="0">
                <a:solidFill>
                  <a:srgbClr val="677078"/>
                </a:solidFill>
                <a:latin typeface="Aptos"/>
              </a:rPr>
              <a:t>Nota: i dettagli Qlik/Talend su entitlement, capacity e runtime restano da confermare prima di una scelta esecutiva.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Confronto scenari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Il trade-off principale e' tra controllo engineering e piattaforma enterprise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737999"/>
            <a:ext cx="1944000" cy="1800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781200"/>
            <a:ext cx="1872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Criterio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8000" y="737999"/>
            <a:ext cx="3851999" cy="1800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4000" y="781200"/>
            <a:ext cx="3780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Dagster / dbt / Metabase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12000" y="737999"/>
            <a:ext cx="3851999" cy="1800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8000" y="781200"/>
            <a:ext cx="3780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Talend / Qlik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954000"/>
            <a:ext cx="1944000" cy="22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200" y="1004400"/>
            <a:ext cx="1857600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1">
                <a:solidFill>
                  <a:srgbClr val="1F415F"/>
                </a:solidFill>
                <a:latin typeface="Aptos"/>
              </a:rPr>
              <a:t>Riuso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8000" y="954000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1200" y="1004400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Alto con asset/modelli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000" y="954000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5200" y="1004400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Alto se template e tenant sono riusabili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1198800"/>
            <a:ext cx="1944000" cy="22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3200" y="1249200"/>
            <a:ext cx="1857600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1">
                <a:solidFill>
                  <a:srgbClr val="1F415F"/>
                </a:solidFill>
                <a:latin typeface="Aptos"/>
              </a:rPr>
              <a:t>Scalabilita'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28000" y="1198800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1200" y="1249200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Dipende da AWS, DB e orchestrazione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2000" y="1198800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5200" y="1249200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Dipende da capacity e runtime Qlik/Talend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0000" y="1443600"/>
            <a:ext cx="1944000" cy="22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3200" y="1493999"/>
            <a:ext cx="1857600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1">
                <a:solidFill>
                  <a:srgbClr val="1F415F"/>
                </a:solidFill>
                <a:latin typeface="Aptos"/>
              </a:rPr>
              <a:t>Costi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28000" y="1443600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1200" y="14939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Cloud/run/competenze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12000" y="1443600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55200" y="14939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Subscription 50 GB: 30-50k EUR da confermare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1688399"/>
            <a:ext cx="1944000" cy="22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3200" y="1738799"/>
            <a:ext cx="1857600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1">
                <a:solidFill>
                  <a:srgbClr val="1F415F"/>
                </a:solidFill>
                <a:latin typeface="Aptos"/>
              </a:rPr>
              <a:t>Rapidita'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28000" y="1688399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1200" y="17387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Alta se si riusa CDG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12000" y="1688399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55200" y="17387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Alta se licenze e connettori sono pronti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1933199"/>
            <a:ext cx="1944000" cy="22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3200" y="1983599"/>
            <a:ext cx="1857600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1">
                <a:solidFill>
                  <a:srgbClr val="1F415F"/>
                </a:solidFill>
                <a:latin typeface="Aptos"/>
              </a:rPr>
              <a:t>Lock-in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28000" y="1933199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71200" y="19835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Medio-basso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2000" y="1933199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55200" y="19835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Medio-alto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0000" y="2177999"/>
            <a:ext cx="1944000" cy="223200"/>
          </a:xfrm>
          <a:prstGeom prst="rect">
            <a:avLst/>
          </a:prstGeom>
          <a:solidFill>
            <a:srgbClr val="F7FBFC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3200" y="2228399"/>
            <a:ext cx="1857600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1">
                <a:solidFill>
                  <a:srgbClr val="1F415F"/>
                </a:solidFill>
                <a:latin typeface="Aptos"/>
              </a:rPr>
              <a:t>Fit ProSIGNAL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28000" y="2177999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1200" y="22283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Forte per processing custom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12000" y="2177999"/>
            <a:ext cx="3851999" cy="22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55200" y="2228399"/>
            <a:ext cx="3765599" cy="864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780" b="0">
                <a:solidFill>
                  <a:srgbClr val="242A30"/>
                </a:solidFill>
                <a:latin typeface="Aptos"/>
              </a:rPr>
              <a:t>Da stressare su file grandi/fixed-column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Proiezione sui casi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ProSIGNAL e Kiron guidano la priorita', il CDG interno consolida la 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20000"/>
            <a:ext cx="298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720000"/>
            <a:ext cx="2988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800" y="748800"/>
            <a:ext cx="286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ING ProSIGNAL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943200"/>
            <a:ext cx="2862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Priorita': Alta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8000" y="720000"/>
            <a:ext cx="3491999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8000" y="720000"/>
            <a:ext cx="3491999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2800" y="748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2800" y="943200"/>
            <a:ext cx="3366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Forte per file processing custom e controlli cross-file.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0000" y="720000"/>
            <a:ext cx="3491999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000" y="720000"/>
            <a:ext cx="3491999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4800" y="748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4800" y="943200"/>
            <a:ext cx="3366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Forte se capability Talend/Qlik reggono fixed-column e volumi.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1278000"/>
            <a:ext cx="298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" y="1278000"/>
            <a:ext cx="2988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800" y="1306800"/>
            <a:ext cx="286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Kiron CDG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800" y="1501200"/>
            <a:ext cx="2862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Priorita': Alta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8000" y="1278000"/>
            <a:ext cx="3491999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8000" y="1278000"/>
            <a:ext cx="3491999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2800" y="1306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2800" y="1501200"/>
            <a:ext cx="3366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Buon fit CDG-like con fonti Campus/Zucchetti e output Actual/Forecast.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0000" y="1278000"/>
            <a:ext cx="3491999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00000" y="1278000"/>
            <a:ext cx="3491999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4800" y="1306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4800" y="1501200"/>
            <a:ext cx="3366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Buon fit se Qlik e' preferito e Talend rende trasparenti regole e mapping.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000" y="1835999"/>
            <a:ext cx="2988000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0000" y="1835999"/>
            <a:ext cx="2988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1864800"/>
            <a:ext cx="286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CDG interno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2059200"/>
            <a:ext cx="2862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Priorita': Media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8000" y="1835999"/>
            <a:ext cx="3491999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28000" y="1835999"/>
            <a:ext cx="3491999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2800" y="1864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92800" y="2059200"/>
            <a:ext cx="3366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Molto coerente con la reference implementation corrente.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00000" y="1835999"/>
            <a:ext cx="3491999" cy="4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00000" y="1835999"/>
            <a:ext cx="3491999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4800" y="1864800"/>
            <a:ext cx="3366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4800" y="2059200"/>
            <a:ext cx="3366000" cy="216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50">
                <a:solidFill>
                  <a:srgbClr val="242A30"/>
                </a:solidFill>
                <a:latin typeface="Aptos"/>
              </a:defRPr>
            </a:pPr>
            <a:r>
              <a:t>- Possibile alternativa, ma meno allineata allo stato attuale.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000" y="2466000"/>
            <a:ext cx="1008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0">
                <a:solidFill>
                  <a:srgbClr val="677078"/>
                </a:solidFill>
                <a:latin typeface="Aptos"/>
              </a:rPr>
              <a:t>Dove mancano esempi o chiarimenti, i contenuti restano ipotesi/best practice e non claim cliente.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WBS | Processi e funzioni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Le WBS condividono una spina dorsale comune, ma cambiano sorgenti e controlli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68000" y="1188000"/>
            <a:ext cx="1440000" cy="3240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2000" y="1306800"/>
            <a:ext cx="1332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000" b="1">
                <a:solidFill>
                  <a:srgbClr val="1F415F"/>
                </a:solidFill>
                <a:latin typeface="Aptos"/>
              </a:rPr>
              <a:t>Blueprint pipeline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088000" y="737999"/>
            <a:ext cx="3600000" cy="612001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40000" y="612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5999" y="684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Discovery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636000" y="576000"/>
            <a:ext cx="2052000" cy="77400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8000" y="450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4000" y="522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Data contracts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688000" y="576000"/>
            <a:ext cx="3060000" cy="77400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00000" y="450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6000" y="522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Ingestion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688000" y="737999"/>
            <a:ext cx="4680000" cy="612001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20000" y="612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000" y="684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Quality gates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88000" y="1350000"/>
            <a:ext cx="3600000" cy="77400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440000" y="1998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75999" y="2070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Transform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636000" y="1350000"/>
            <a:ext cx="2052000" cy="95400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988000" y="2178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24000" y="2250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Mart/output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88000" y="1350000"/>
            <a:ext cx="3060000" cy="95400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00000" y="2178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6000" y="2250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Presentation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88000" y="1350000"/>
            <a:ext cx="4680000" cy="77400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20000" y="1998000"/>
            <a:ext cx="1296000" cy="25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6000" y="2070000"/>
            <a:ext cx="1224000" cy="79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30" b="1">
                <a:solidFill>
                  <a:srgbClr val="1F415F"/>
                </a:solidFill>
                <a:latin typeface="Aptos"/>
              </a:rPr>
              <a:t>Run/governance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60000" y="1890000"/>
            <a:ext cx="3456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0000" y="1890000"/>
            <a:ext cx="3456000" cy="15120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4800" y="1918800"/>
            <a:ext cx="3330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Derivazione piano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4800" y="2113200"/>
            <a:ext cx="3330000" cy="180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80">
                <a:solidFill>
                  <a:srgbClr val="242A30"/>
                </a:solidFill>
                <a:latin typeface="Aptos"/>
              </a:defRPr>
            </a:pPr>
            <a:r>
              <a:t>analisi -&gt; architettura -&gt; implementazione -&gt; test/parallel run -&gt; go-live -&gt; industrializzazione.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Piano di lavoro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Un piano comune riduce rischio e abilita riuso progressivo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64000"/>
            <a:ext cx="1332000" cy="1728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6000" y="907200"/>
            <a:ext cx="12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1F415F"/>
                </a:solidFill>
                <a:latin typeface="Aptos"/>
              </a:rPr>
              <a:t>1.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098000"/>
            <a:ext cx="1332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242A30"/>
                </a:solidFill>
                <a:latin typeface="Aptos"/>
              </a:rPr>
              <a:t>fonti, vincoli, data contracts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2000" y="954000"/>
            <a:ext cx="396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96000" y="864000"/>
            <a:ext cx="1332000" cy="1728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31999" y="907200"/>
            <a:ext cx="12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1F415F"/>
                </a:solidFill>
                <a:latin typeface="Aptos"/>
              </a:rPr>
              <a:t>2. Architettura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6000" y="1098000"/>
            <a:ext cx="1332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242A30"/>
                </a:solidFill>
                <a:latin typeface="Aptos"/>
              </a:rPr>
              <a:t>scenario, runtime, DB, governance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28000" y="954000"/>
            <a:ext cx="395999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31999" y="864000"/>
            <a:ext cx="1332000" cy="1728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7999" y="907200"/>
            <a:ext cx="12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1F415F"/>
                </a:solidFill>
                <a:latin typeface="Aptos"/>
              </a:rPr>
              <a:t>3.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1999" y="1098000"/>
            <a:ext cx="1332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242A30"/>
                </a:solidFill>
                <a:latin typeface="Aptos"/>
              </a:rPr>
              <a:t>ingestion, transform, quality, mart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63999" y="954000"/>
            <a:ext cx="396001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67999" y="864000"/>
            <a:ext cx="1332000" cy="1728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3999" y="907200"/>
            <a:ext cx="12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1F415F"/>
                </a:solidFill>
                <a:latin typeface="Aptos"/>
              </a:rPr>
              <a:t>4. Validazione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999" y="1098000"/>
            <a:ext cx="1332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242A30"/>
                </a:solidFill>
                <a:latin typeface="Aptos"/>
              </a:rPr>
              <a:t>parallel run, quadrature, UAT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99999" y="954000"/>
            <a:ext cx="396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03999" y="864000"/>
            <a:ext cx="1332000" cy="1728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0000" y="907200"/>
            <a:ext cx="12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1F415F"/>
                </a:solidFill>
                <a:latin typeface="Aptos"/>
              </a:rPr>
              <a:t>5.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3999" y="1098000"/>
            <a:ext cx="1332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242A30"/>
                </a:solidFill>
                <a:latin typeface="Aptos"/>
              </a:rPr>
              <a:t>dashboard, export, runbook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36000" y="954000"/>
            <a:ext cx="396000" cy="0"/>
          </a:xfrm>
          <a:prstGeom prst="line">
            <a:avLst/>
          </a:prstGeom>
          <a:ln w="15240">
            <a:solidFill>
              <a:srgbClr val="95CF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40000" y="864000"/>
            <a:ext cx="1332000" cy="1728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76000" y="907200"/>
            <a:ext cx="12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50" b="1">
                <a:solidFill>
                  <a:srgbClr val="1F415F"/>
                </a:solidFill>
                <a:latin typeface="Aptos"/>
              </a:rPr>
              <a:t>6. Riuso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0000" y="1098000"/>
            <a:ext cx="1332000" cy="23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819" b="0">
                <a:solidFill>
                  <a:srgbClr val="242A30"/>
                </a:solidFill>
                <a:latin typeface="Aptos"/>
              </a:rPr>
              <a:t>template, backlog, industrializzazione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0000" y="1818000"/>
            <a:ext cx="3168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1818000"/>
            <a:ext cx="3168000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00" y="1846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Priorita'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00" y="2041200"/>
            <a:ext cx="3042000" cy="16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80">
                <a:solidFill>
                  <a:srgbClr val="242A30"/>
                </a:solidFill>
                <a:latin typeface="Aptos"/>
              </a:defRPr>
            </a:pPr>
            <a:r>
              <a:t>- ProSIGNAL e Kiron prima del CDG interno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4000" y="1818000"/>
            <a:ext cx="3168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44000" y="1818000"/>
            <a:ext cx="3168000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08800" y="1846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Metodo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8800" y="2041200"/>
            <a:ext cx="3042000" cy="16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80">
                <a:solidFill>
                  <a:srgbClr val="242A30"/>
                </a:solidFill>
                <a:latin typeface="Aptos"/>
              </a:defRPr>
            </a:pPr>
            <a:r>
              <a:t>- pilot comparativo o scenario selezionato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28000" y="1818000"/>
            <a:ext cx="3168000" cy="4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28000" y="1818000"/>
            <a:ext cx="3168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92800" y="1846800"/>
            <a:ext cx="3042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2800" y="2041200"/>
            <a:ext cx="3042000" cy="161999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80">
                <a:solidFill>
                  <a:srgbClr val="242A30"/>
                </a:solidFill>
                <a:latin typeface="Aptos"/>
              </a:defRPr>
            </a:pPr>
            <a:r>
              <a:t>- blueprint riusabile e piano di adozione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Per la blueprint servono range e driver, non una quotazione definitiva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792000"/>
            <a:ext cx="3096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792000"/>
            <a:ext cx="3096000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800" y="820800"/>
            <a:ext cx="2970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1015200"/>
            <a:ext cx="2970000" cy="594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licenze potenzialmente contenute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costo cloud/run da stimare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maggiore effort engineering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riuso forte se standardizzato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1999" y="792000"/>
            <a:ext cx="3096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71999" y="792000"/>
            <a:ext cx="3096000" cy="151200"/>
          </a:xfrm>
          <a:prstGeom prst="rect">
            <a:avLst/>
          </a:prstGeom>
          <a:solidFill>
            <a:srgbClr val="469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6799" y="820800"/>
            <a:ext cx="2970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Scenario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6799" y="1015200"/>
            <a:ext cx="2970000" cy="594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piano 50 GB: 30-50k EUR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range utente, non listino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capacity, bundle e IVA da chiarire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meno custom se capability coperte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3999" y="792000"/>
            <a:ext cx="3096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83999" y="792000"/>
            <a:ext cx="3096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799" y="820800"/>
            <a:ext cx="2970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Driver comuni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799" y="1015200"/>
            <a:ext cx="2970000" cy="594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setup blueprint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delivery per progetto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run, licenze e manutenzione</a:t>
            </a:r>
          </a:p>
          <a:p>
            <a:pPr>
              <a:spcAft>
                <a:spcPts val="0"/>
              </a:spcAft>
              <a:defRPr sz="869">
                <a:solidFill>
                  <a:srgbClr val="242A30"/>
                </a:solidFill>
                <a:latin typeface="Aptos"/>
              </a:defRPr>
            </a:pPr>
            <a:r>
              <a:t>- riuso su iniziative successive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1944000"/>
            <a:ext cx="9720000" cy="342000"/>
          </a:xfrm>
          <a:prstGeom prst="roundRect">
            <a:avLst/>
          </a:prstGeom>
          <a:solidFill>
            <a:srgbClr val="EEF9FA"/>
          </a:solidFill>
          <a:ln w="12700">
            <a:solidFill>
              <a:srgbClr val="10A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2034000"/>
            <a:ext cx="9432000" cy="1152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919" b="1">
                <a:solidFill>
                  <a:srgbClr val="1F415F"/>
                </a:solidFill>
                <a:latin typeface="Aptos"/>
              </a:rPr>
              <a:t>Messaggio: discutere fasce e dipendenze; evitare falsa precisione prima della verifica commerciale e tecnica.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9" y="82800"/>
            <a:ext cx="756000" cy="1714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7999" y="100800"/>
            <a:ext cx="3600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00" b="0">
                <a:solidFill>
                  <a:srgbClr val="677078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17999" y="90000"/>
            <a:ext cx="162000" cy="125999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r"/>
            <a:r>
              <a:rPr sz="800" b="0">
                <a:solidFill>
                  <a:srgbClr val="677078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125999" y="295200"/>
            <a:ext cx="450000" cy="126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3999"/>
            <a:ext cx="11232000" cy="27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2100" b="1">
                <a:solidFill>
                  <a:srgbClr val="1F415F"/>
                </a:solidFill>
                <a:latin typeface="Aptos"/>
              </a:rPr>
              <a:t>La scelta deve nascere da una discussione guidata sui trade-off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810000"/>
            <a:ext cx="450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810000"/>
            <a:ext cx="4500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4800" y="838800"/>
            <a:ext cx="4374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Adozione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4800" y="1033200"/>
            <a:ext cx="4374000" cy="180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Quale scenario puo' diventare standard per progetti analoghi?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0" y="810000"/>
            <a:ext cx="450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00000" y="810000"/>
            <a:ext cx="4500000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4800" y="838800"/>
            <a:ext cx="4374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Rischio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4800" y="1033200"/>
            <a:ext cx="4374000" cy="180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Quali blocker tecnici o commerciali vanno chiusi prima?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1440000"/>
            <a:ext cx="450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1440000"/>
            <a:ext cx="4500000" cy="151200"/>
          </a:xfrm>
          <a:prstGeom prst="rect">
            <a:avLst/>
          </a:prstGeom>
          <a:solidFill>
            <a:srgbClr val="10A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800" y="1468800"/>
            <a:ext cx="4374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800" y="1663200"/>
            <a:ext cx="4374000" cy="180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Il range Qlik/Talend e il costo run AWS sono confrontabili?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0" y="1440000"/>
            <a:ext cx="4500000" cy="4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5C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0" y="1440000"/>
            <a:ext cx="4500000" cy="151200"/>
          </a:xfrm>
          <a:prstGeom prst="rect">
            <a:avLst/>
          </a:prstGeom>
          <a:solidFill>
            <a:srgbClr val="2B8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64800" y="1468800"/>
            <a:ext cx="4374000" cy="108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  <a:latin typeface="Aptos"/>
              </a:rPr>
              <a:t>Priorita'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4800" y="1663200"/>
            <a:ext cx="4374000" cy="180000"/>
          </a:xfrm>
          <a:prstGeom prst="rect">
            <a:avLst/>
          </a:prstGeom>
          <a:noFill/>
        </p:spPr>
        <p:txBody>
          <a:bodyPr wrap="none" lIns="28800" rIns="28800" tIns="14400" bIns="1440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242A30"/>
                </a:solidFill>
                <a:latin typeface="Aptos"/>
              </a:defRPr>
            </a:pPr>
            <a:r>
              <a:t>Quale caso pilota massimizza valore e apprendimento?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2268000"/>
            <a:ext cx="9720000" cy="144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100" b="1">
                <a:solidFill>
                  <a:srgbClr val="1F415F"/>
                </a:solidFill>
                <a:latin typeface="Aptos"/>
              </a:rPr>
              <a:t>La presentazione non chiude la decisione: prepara una scelta informata tra due modelli riusabili.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7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xt-novigo-logo-from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000" y="954000"/>
            <a:ext cx="3096000" cy="70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40000" y="1584000"/>
            <a:ext cx="5688000" cy="216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800" b="1">
                <a:solidFill>
                  <a:srgbClr val="1F415F"/>
                </a:solidFill>
                <a:latin typeface="Aptos"/>
              </a:rPr>
              <a:t>Data Pipeline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1999" y="1854000"/>
            <a:ext cx="6263999" cy="18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1100" b="0">
                <a:solidFill>
                  <a:srgbClr val="677078"/>
                </a:solidFill>
                <a:latin typeface="Aptos"/>
              </a:rPr>
              <a:t>Materiale di discussione per CEO, CTO e Tech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502000"/>
            <a:ext cx="11160000" cy="90000"/>
          </a:xfrm>
          <a:prstGeom prst="rect">
            <a:avLst/>
          </a:prstGeom>
          <a:noFill/>
        </p:spPr>
        <p:txBody>
          <a:bodyPr wrap="none" lIns="18000" rIns="18000" tIns="7200" bIns="7200" anchor="t">
            <a:spAutoFit/>
          </a:bodyPr>
          <a:lstStyle/>
          <a:p>
            <a:pPr algn="ctr"/>
            <a:r>
              <a:rPr sz="750" b="0">
                <a:solidFill>
                  <a:srgbClr val="677078"/>
                </a:solidFill>
                <a:latin typeface="Aptos"/>
              </a:rPr>
              <a:t>Documento di lavoro: assunzioni, economics e capability vendor da confermare prima di una proposta definitiva.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